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62" r:id="rId5"/>
    <p:sldId id="268" r:id="rId6"/>
    <p:sldId id="266" r:id="rId7"/>
    <p:sldId id="269" r:id="rId8"/>
    <p:sldId id="258" r:id="rId9"/>
    <p:sldId id="270" r:id="rId10"/>
    <p:sldId id="260" r:id="rId11"/>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2249AE-BB80-485C-917D-E7F157322BA9}" v="11" dt="2026-03-16T07:15:55.2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00" autoAdjust="0"/>
    <p:restoredTop sz="96236" autoAdjust="0"/>
  </p:normalViewPr>
  <p:slideViewPr>
    <p:cSldViewPr snapToGrid="0">
      <p:cViewPr varScale="1">
        <p:scale>
          <a:sx n="106" d="100"/>
          <a:sy n="106" d="100"/>
        </p:scale>
        <p:origin x="31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saleem0213@outlook.com" userId="0fedaeace9581608" providerId="LiveId" clId="{EBE8AE33-9120-4A61-8082-E184EDBF75E5}"/>
    <pc:docChg chg="undo custSel addSld modSld">
      <pc:chgData name="mosaleem0213@outlook.com" userId="0fedaeace9581608" providerId="LiveId" clId="{EBE8AE33-9120-4A61-8082-E184EDBF75E5}" dt="2026-03-16T07:16:03.447" v="501" actId="20577"/>
      <pc:docMkLst>
        <pc:docMk/>
      </pc:docMkLst>
      <pc:sldChg chg="modSp mod">
        <pc:chgData name="mosaleem0213@outlook.com" userId="0fedaeace9581608" providerId="LiveId" clId="{EBE8AE33-9120-4A61-8082-E184EDBF75E5}" dt="2026-03-16T05:48:27.070" v="8" actId="20577"/>
        <pc:sldMkLst>
          <pc:docMk/>
          <pc:sldMk cId="2772807980" sldId="256"/>
        </pc:sldMkLst>
        <pc:spChg chg="mod">
          <ac:chgData name="mosaleem0213@outlook.com" userId="0fedaeace9581608" providerId="LiveId" clId="{EBE8AE33-9120-4A61-8082-E184EDBF75E5}" dt="2026-03-16T05:48:27.070" v="8" actId="20577"/>
          <ac:spMkLst>
            <pc:docMk/>
            <pc:sldMk cId="2772807980" sldId="256"/>
            <ac:spMk id="3" creationId="{C4EAED8B-40B8-2F67-2CA2-D6CB3B6F8578}"/>
          </ac:spMkLst>
        </pc:spChg>
      </pc:sldChg>
      <pc:sldChg chg="modSp mod">
        <pc:chgData name="mosaleem0213@outlook.com" userId="0fedaeace9581608" providerId="LiveId" clId="{EBE8AE33-9120-4A61-8082-E184EDBF75E5}" dt="2026-03-16T06:07:07.290" v="71" actId="20577"/>
        <pc:sldMkLst>
          <pc:docMk/>
          <pc:sldMk cId="3166029343" sldId="260"/>
        </pc:sldMkLst>
        <pc:spChg chg="mod">
          <ac:chgData name="mosaleem0213@outlook.com" userId="0fedaeace9581608" providerId="LiveId" clId="{EBE8AE33-9120-4A61-8082-E184EDBF75E5}" dt="2026-03-16T06:07:07.290" v="71" actId="20577"/>
          <ac:spMkLst>
            <pc:docMk/>
            <pc:sldMk cId="3166029343" sldId="260"/>
            <ac:spMk id="3" creationId="{A96A4C0A-7CD6-52C8-5795-CE203917B8A2}"/>
          </ac:spMkLst>
        </pc:spChg>
      </pc:sldChg>
      <pc:sldChg chg="modSp mod">
        <pc:chgData name="mosaleem0213@outlook.com" userId="0fedaeace9581608" providerId="LiveId" clId="{EBE8AE33-9120-4A61-8082-E184EDBF75E5}" dt="2026-03-16T05:55:40.899" v="37" actId="20577"/>
        <pc:sldMkLst>
          <pc:docMk/>
          <pc:sldMk cId="456862967" sldId="262"/>
        </pc:sldMkLst>
        <pc:spChg chg="mod">
          <ac:chgData name="mosaleem0213@outlook.com" userId="0fedaeace9581608" providerId="LiveId" clId="{EBE8AE33-9120-4A61-8082-E184EDBF75E5}" dt="2026-03-16T05:55:40.899" v="37" actId="20577"/>
          <ac:spMkLst>
            <pc:docMk/>
            <pc:sldMk cId="456862967" sldId="262"/>
            <ac:spMk id="3" creationId="{3AACD20F-C850-EB87-7F72-C016CF415169}"/>
          </ac:spMkLst>
        </pc:spChg>
      </pc:sldChg>
      <pc:sldChg chg="modSp mod">
        <pc:chgData name="mosaleem0213@outlook.com" userId="0fedaeace9581608" providerId="LiveId" clId="{EBE8AE33-9120-4A61-8082-E184EDBF75E5}" dt="2026-03-16T06:01:40.719" v="60" actId="20577"/>
        <pc:sldMkLst>
          <pc:docMk/>
          <pc:sldMk cId="2218198170" sldId="266"/>
        </pc:sldMkLst>
        <pc:spChg chg="mod">
          <ac:chgData name="mosaleem0213@outlook.com" userId="0fedaeace9581608" providerId="LiveId" clId="{EBE8AE33-9120-4A61-8082-E184EDBF75E5}" dt="2026-03-16T06:01:40.719" v="60" actId="20577"/>
          <ac:spMkLst>
            <pc:docMk/>
            <pc:sldMk cId="2218198170" sldId="266"/>
            <ac:spMk id="3" creationId="{3AACD20F-C850-EB87-7F72-C016CF415169}"/>
          </ac:spMkLst>
        </pc:spChg>
      </pc:sldChg>
      <pc:sldChg chg="modSp add mod">
        <pc:chgData name="mosaleem0213@outlook.com" userId="0fedaeace9581608" providerId="LiveId" clId="{EBE8AE33-9120-4A61-8082-E184EDBF75E5}" dt="2026-03-16T05:55:12.357" v="28" actId="13926"/>
        <pc:sldMkLst>
          <pc:docMk/>
          <pc:sldMk cId="2372366213" sldId="267"/>
        </pc:sldMkLst>
        <pc:spChg chg="mod">
          <ac:chgData name="mosaleem0213@outlook.com" userId="0fedaeace9581608" providerId="LiveId" clId="{EBE8AE33-9120-4A61-8082-E184EDBF75E5}" dt="2026-03-16T05:55:12.357" v="28" actId="13926"/>
          <ac:spMkLst>
            <pc:docMk/>
            <pc:sldMk cId="2372366213" sldId="267"/>
            <ac:spMk id="5" creationId="{5D5D2586-0376-2746-0EB9-7E84DC028BF4}"/>
          </ac:spMkLst>
        </pc:spChg>
      </pc:sldChg>
      <pc:sldChg chg="modSp add mod">
        <pc:chgData name="mosaleem0213@outlook.com" userId="0fedaeace9581608" providerId="LiveId" clId="{EBE8AE33-9120-4A61-8082-E184EDBF75E5}" dt="2026-03-16T06:00:57.245" v="51" actId="13926"/>
        <pc:sldMkLst>
          <pc:docMk/>
          <pc:sldMk cId="4221253824" sldId="268"/>
        </pc:sldMkLst>
        <pc:spChg chg="mod">
          <ac:chgData name="mosaleem0213@outlook.com" userId="0fedaeace9581608" providerId="LiveId" clId="{EBE8AE33-9120-4A61-8082-E184EDBF75E5}" dt="2026-03-16T06:00:57.245" v="51" actId="13926"/>
          <ac:spMkLst>
            <pc:docMk/>
            <pc:sldMk cId="4221253824" sldId="268"/>
            <ac:spMk id="3" creationId="{2560B76E-CD69-AC07-84F1-60998704623C}"/>
          </ac:spMkLst>
        </pc:spChg>
      </pc:sldChg>
      <pc:sldChg chg="modSp add mod">
        <pc:chgData name="mosaleem0213@outlook.com" userId="0fedaeace9581608" providerId="LiveId" clId="{EBE8AE33-9120-4A61-8082-E184EDBF75E5}" dt="2026-03-16T06:05:04.817" v="70" actId="13926"/>
        <pc:sldMkLst>
          <pc:docMk/>
          <pc:sldMk cId="2205876514" sldId="269"/>
        </pc:sldMkLst>
        <pc:spChg chg="mod">
          <ac:chgData name="mosaleem0213@outlook.com" userId="0fedaeace9581608" providerId="LiveId" clId="{EBE8AE33-9120-4A61-8082-E184EDBF75E5}" dt="2026-03-16T06:05:04.817" v="70" actId="13926"/>
          <ac:spMkLst>
            <pc:docMk/>
            <pc:sldMk cId="2205876514" sldId="269"/>
            <ac:spMk id="3" creationId="{817E0C48-A636-0AF1-C32B-ADFCDEF5A38A}"/>
          </ac:spMkLst>
        </pc:spChg>
      </pc:sldChg>
      <pc:sldChg chg="modSp add mod">
        <pc:chgData name="mosaleem0213@outlook.com" userId="0fedaeace9581608" providerId="LiveId" clId="{EBE8AE33-9120-4A61-8082-E184EDBF75E5}" dt="2026-03-16T07:16:03.447" v="501" actId="20577"/>
        <pc:sldMkLst>
          <pc:docMk/>
          <pc:sldMk cId="1605044654" sldId="270"/>
        </pc:sldMkLst>
        <pc:spChg chg="mod">
          <ac:chgData name="mosaleem0213@outlook.com" userId="0fedaeace9581608" providerId="LiveId" clId="{EBE8AE33-9120-4A61-8082-E184EDBF75E5}" dt="2026-03-16T06:08:13.591" v="96" actId="20577"/>
          <ac:spMkLst>
            <pc:docMk/>
            <pc:sldMk cId="1605044654" sldId="270"/>
            <ac:spMk id="2" creationId="{52A20D8B-6FC6-41E9-5611-71BC48FDEF9B}"/>
          </ac:spMkLst>
        </pc:spChg>
        <pc:spChg chg="mod">
          <ac:chgData name="mosaleem0213@outlook.com" userId="0fedaeace9581608" providerId="LiveId" clId="{EBE8AE33-9120-4A61-8082-E184EDBF75E5}" dt="2026-03-16T07:16:03.447" v="501" actId="20577"/>
          <ac:spMkLst>
            <pc:docMk/>
            <pc:sldMk cId="1605044654" sldId="270"/>
            <ac:spMk id="3" creationId="{F3C02AA4-3F1B-0EBD-A8A6-9693C21C0D2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8F76A06A-EFD8-C516-DA85-AD7D6CED954E}"/>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5" name="Footer Placeholder 4">
            <a:extLst>
              <a:ext uri="{FF2B5EF4-FFF2-40B4-BE49-F238E27FC236}">
                <a16:creationId xmlns:a16="http://schemas.microsoft.com/office/drawing/2014/main"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B2E3FFB-4DC1-A56D-9904-E2AB94B28FF1}"/>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5" name="Footer Placeholder 4">
            <a:extLst>
              <a:ext uri="{FF2B5EF4-FFF2-40B4-BE49-F238E27FC236}">
                <a16:creationId xmlns:a16="http://schemas.microsoft.com/office/drawing/2014/main"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B80-CF8E-8161-CB6C-DBA88F0A0B7F}"/>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5" name="Footer Placeholder 4">
            <a:extLst>
              <a:ext uri="{FF2B5EF4-FFF2-40B4-BE49-F238E27FC236}">
                <a16:creationId xmlns:a16="http://schemas.microsoft.com/office/drawing/2014/main"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475890CD-0FFD-4DA5-FF94-43DC8085AC42}"/>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6" name="Footer Placeholder 5">
            <a:extLst>
              <a:ext uri="{FF2B5EF4-FFF2-40B4-BE49-F238E27FC236}">
                <a16:creationId xmlns:a16="http://schemas.microsoft.com/office/drawing/2014/main"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E87E0EA-2F4B-A0D9-28BC-4E36AF13B7C4}"/>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8" name="Footer Placeholder 7">
            <a:extLst>
              <a:ext uri="{FF2B5EF4-FFF2-40B4-BE49-F238E27FC236}">
                <a16:creationId xmlns:a16="http://schemas.microsoft.com/office/drawing/2014/main"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700077DB-C074-B875-563C-3446B25EDA86}"/>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4" name="Footer Placeholder 3">
            <a:extLst>
              <a:ext uri="{FF2B5EF4-FFF2-40B4-BE49-F238E27FC236}">
                <a16:creationId xmlns:a16="http://schemas.microsoft.com/office/drawing/2014/main"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55FA8-EE12-07EA-0FD5-064AC8C094EE}"/>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3" name="Footer Placeholder 2">
            <a:extLst>
              <a:ext uri="{FF2B5EF4-FFF2-40B4-BE49-F238E27FC236}">
                <a16:creationId xmlns:a16="http://schemas.microsoft.com/office/drawing/2014/main"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E1DE5-0D30-56EA-97C6-08EC63156EBA}"/>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6" name="Footer Placeholder 5">
            <a:extLst>
              <a:ext uri="{FF2B5EF4-FFF2-40B4-BE49-F238E27FC236}">
                <a16:creationId xmlns:a16="http://schemas.microsoft.com/office/drawing/2014/main"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7039E-345B-0D2B-8932-A7577CE5C90B}"/>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6" name="Footer Placeholder 5">
            <a:extLst>
              <a:ext uri="{FF2B5EF4-FFF2-40B4-BE49-F238E27FC236}">
                <a16:creationId xmlns:a16="http://schemas.microsoft.com/office/drawing/2014/main"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A5F4C95-CB22-1FEB-99BC-968F581D364B}"/>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5" name="Footer Placeholder 4">
            <a:extLst>
              <a:ext uri="{FF2B5EF4-FFF2-40B4-BE49-F238E27FC236}">
                <a16:creationId xmlns:a16="http://schemas.microsoft.com/office/drawing/2014/main"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6C7637A-739E-E7BE-A828-260C61348499}"/>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5" name="Footer Placeholder 4">
            <a:extLst>
              <a:ext uri="{FF2B5EF4-FFF2-40B4-BE49-F238E27FC236}">
                <a16:creationId xmlns:a16="http://schemas.microsoft.com/office/drawing/2014/main"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16.03.2026</a:t>
            </a:fld>
            <a:endParaRPr lang="nb-NO"/>
          </a:p>
        </p:txBody>
      </p:sp>
      <p:sp>
        <p:nvSpPr>
          <p:cNvPr id="5" name="Footer Placeholder 4">
            <a:extLst>
              <a:ext uri="{FF2B5EF4-FFF2-40B4-BE49-F238E27FC236}">
                <a16:creationId xmlns:a16="http://schemas.microsoft.com/office/drawing/2014/main"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p:txBody>
          <a:bodyPr/>
          <a:lstStyle/>
          <a:p>
            <a:r>
              <a:rPr lang="en-US" b="1" dirty="0"/>
              <a:t>Marketing Analytics Business Case</a:t>
            </a:r>
            <a:endParaRPr lang="nb-NO" b="1" dirty="0"/>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p:txBody>
          <a:bodyPr/>
          <a:lstStyle/>
          <a:p>
            <a:r>
              <a:rPr lang="nb-NO" dirty="0"/>
              <a:t>MO Saleem</a:t>
            </a:r>
          </a:p>
          <a:p>
            <a:endParaRPr lang="nb-NO" dirty="0"/>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p:txBody>
          <a:bodyPr/>
          <a:lstStyle/>
          <a:p>
            <a:r>
              <a:rPr lang="en-US" b="1" dirty="0"/>
              <a:t>Introduction to Business Problem</a:t>
            </a:r>
            <a:endParaRPr lang="nb-NO" b="1" dirty="0"/>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55000" lnSpcReduction="20000"/>
          </a:bodyPr>
          <a:lstStyle/>
          <a:p>
            <a:pPr>
              <a:lnSpc>
                <a:spcPct val="170000"/>
              </a:lnSpc>
            </a:pPr>
            <a:r>
              <a:rPr lang="en-US" dirty="0" err="1"/>
              <a:t>ShopEasy</a:t>
            </a:r>
            <a:r>
              <a:rPr lang="en-US" dirty="0"/>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Pr>
              <a:lnSpc>
                <a:spcPct val="170000"/>
              </a:lnSpc>
            </a:pPr>
            <a:endParaRPr lang="en-US" dirty="0"/>
          </a:p>
          <a:p>
            <a:pPr>
              <a:lnSpc>
                <a:spcPct val="170000"/>
              </a:lnSpc>
            </a:pPr>
            <a:r>
              <a:rPr lang="en-US" b="1" dirty="0"/>
              <a:t>Key 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p>
          <a:p>
            <a:pPr lvl="1">
              <a:lnSpc>
                <a:spcPct val="170000"/>
              </a:lnSpc>
            </a:pPr>
            <a:r>
              <a:rPr lang="en-US" b="1" dirty="0"/>
              <a:t>Decreased Conversion Rates:</a:t>
            </a:r>
            <a:r>
              <a:rPr lang="en-US" dirty="0"/>
              <a:t> Fewer site visitors are converting into paying customers.</a:t>
            </a:r>
          </a:p>
          <a:p>
            <a:pPr lvl="1">
              <a:lnSpc>
                <a:spcPct val="170000"/>
              </a:lnSpc>
            </a:pPr>
            <a:r>
              <a:rPr lang="en-US" b="1" dirty="0"/>
              <a:t>High Marketing Expenses:</a:t>
            </a:r>
            <a:r>
              <a:rPr lang="en-US" dirty="0"/>
              <a:t> Significant investments in marketing campaigns are not yielding expected returns.</a:t>
            </a:r>
          </a:p>
          <a:p>
            <a:pPr lvl="1">
              <a:lnSpc>
                <a:spcPct val="170000"/>
              </a:lnSpc>
            </a:pPr>
            <a:r>
              <a:rPr lang="en-US" b="1" dirty="0"/>
              <a:t>Need for Customer Feedback Analysis:</a:t>
            </a:r>
            <a:r>
              <a:rPr lang="en-US" dirty="0"/>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B9C8A-6B51-7DDD-D2DF-DBD74B8425D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C884310-26D6-19BF-D6C3-9D49E58FB7F4}"/>
              </a:ext>
            </a:extLst>
          </p:cNvPr>
          <p:cNvSpPr>
            <a:spLocks noGrp="1"/>
          </p:cNvSpPr>
          <p:nvPr>
            <p:ph type="title"/>
          </p:nvPr>
        </p:nvSpPr>
        <p:spPr/>
        <p:txBody>
          <a:bodyPr/>
          <a:lstStyle/>
          <a:p>
            <a:r>
              <a:rPr lang="en-US" b="1" dirty="0"/>
              <a:t>Introduction to Business Problem</a:t>
            </a:r>
            <a:endParaRPr lang="nb-NO" b="1" dirty="0"/>
          </a:p>
        </p:txBody>
      </p:sp>
      <p:sp>
        <p:nvSpPr>
          <p:cNvPr id="5" name="Content Placeholder 4">
            <a:extLst>
              <a:ext uri="{FF2B5EF4-FFF2-40B4-BE49-F238E27FC236}">
                <a16:creationId xmlns:a16="http://schemas.microsoft.com/office/drawing/2014/main" id="{5D5D2586-0376-2746-0EB9-7E84DC028BF4}"/>
              </a:ext>
            </a:extLst>
          </p:cNvPr>
          <p:cNvSpPr>
            <a:spLocks noGrp="1"/>
          </p:cNvSpPr>
          <p:nvPr>
            <p:ph idx="1"/>
          </p:nvPr>
        </p:nvSpPr>
        <p:spPr>
          <a:xfrm>
            <a:off x="838200" y="1843209"/>
            <a:ext cx="10515600" cy="4351338"/>
          </a:xfrm>
        </p:spPr>
        <p:txBody>
          <a:bodyPr>
            <a:normAutofit fontScale="55000" lnSpcReduction="20000"/>
          </a:bodyPr>
          <a:lstStyle/>
          <a:p>
            <a:pPr>
              <a:lnSpc>
                <a:spcPct val="170000"/>
              </a:lnSpc>
            </a:pPr>
            <a:r>
              <a:rPr lang="en-US" dirty="0" err="1"/>
              <a:t>ShopEasy</a:t>
            </a:r>
            <a:r>
              <a:rPr lang="en-US" dirty="0"/>
              <a:t>, an </a:t>
            </a:r>
            <a:r>
              <a:rPr lang="en-US" b="1" dirty="0">
                <a:highlight>
                  <a:srgbClr val="FFFF00"/>
                </a:highlight>
              </a:rPr>
              <a:t>online retail business</a:t>
            </a:r>
            <a:r>
              <a:rPr lang="en-US" dirty="0"/>
              <a:t>, is facing </a:t>
            </a:r>
            <a:r>
              <a:rPr lang="en-US" b="1" dirty="0">
                <a:highlight>
                  <a:srgbClr val="FFFF00"/>
                </a:highlight>
              </a:rPr>
              <a:t>reduced customer engagement and conversion rates</a:t>
            </a:r>
            <a:r>
              <a:rPr lang="en-US" dirty="0"/>
              <a:t> despite launching several </a:t>
            </a:r>
            <a:r>
              <a:rPr lang="en-US" b="1" dirty="0">
                <a:highlight>
                  <a:srgbClr val="FFFF00"/>
                </a:highlight>
              </a:rPr>
              <a:t>new online marketing campaigns.</a:t>
            </a:r>
            <a:r>
              <a:rPr lang="en-US" dirty="0"/>
              <a:t> They are reaching out to you to help </a:t>
            </a:r>
            <a:r>
              <a:rPr lang="en-US" b="1" dirty="0">
                <a:highlight>
                  <a:srgbClr val="FFFF00"/>
                </a:highlight>
              </a:rPr>
              <a:t>conduct a detailed analysis </a:t>
            </a:r>
            <a:r>
              <a:rPr lang="en-US" dirty="0"/>
              <a:t>and identify areas for improvement in their marketing strategies.</a:t>
            </a:r>
          </a:p>
          <a:p>
            <a:pPr>
              <a:lnSpc>
                <a:spcPct val="170000"/>
              </a:lnSpc>
            </a:pPr>
            <a:endParaRPr lang="en-US" dirty="0"/>
          </a:p>
          <a:p>
            <a:pPr>
              <a:lnSpc>
                <a:spcPct val="170000"/>
              </a:lnSpc>
            </a:pPr>
            <a:r>
              <a:rPr lang="en-US" b="1" dirty="0"/>
              <a:t>Key Points:</a:t>
            </a:r>
            <a:endParaRPr lang="en-US" dirty="0"/>
          </a:p>
          <a:p>
            <a:pPr lvl="1">
              <a:lnSpc>
                <a:spcPct val="170000"/>
              </a:lnSpc>
            </a:pPr>
            <a:r>
              <a:rPr lang="en-US" b="1" dirty="0"/>
              <a:t>Reduced Customer Engagement:</a:t>
            </a:r>
            <a:r>
              <a:rPr lang="en-US" dirty="0"/>
              <a:t> The </a:t>
            </a:r>
            <a:r>
              <a:rPr lang="en-US" b="1" dirty="0">
                <a:highlight>
                  <a:srgbClr val="FFFF00"/>
                </a:highlight>
              </a:rPr>
              <a:t>number of customer interactions and engagement with the site</a:t>
            </a:r>
            <a:r>
              <a:rPr lang="en-US" dirty="0"/>
              <a:t> and marketing content has </a:t>
            </a:r>
            <a:r>
              <a:rPr lang="en-US" b="1" dirty="0">
                <a:highlight>
                  <a:srgbClr val="FFFF00"/>
                </a:highlight>
              </a:rPr>
              <a:t>declined</a:t>
            </a:r>
            <a:r>
              <a:rPr lang="en-US" dirty="0"/>
              <a:t>.</a:t>
            </a:r>
          </a:p>
          <a:p>
            <a:pPr lvl="1">
              <a:lnSpc>
                <a:spcPct val="170000"/>
              </a:lnSpc>
            </a:pPr>
            <a:r>
              <a:rPr lang="en-US" b="1" dirty="0"/>
              <a:t>Decreased Conversion Rates:</a:t>
            </a:r>
            <a:r>
              <a:rPr lang="en-US" dirty="0"/>
              <a:t> </a:t>
            </a:r>
            <a:r>
              <a:rPr lang="en-US" b="1" dirty="0">
                <a:highlight>
                  <a:srgbClr val="FFFF00"/>
                </a:highlight>
              </a:rPr>
              <a:t>Fewer site visitors are converting </a:t>
            </a:r>
            <a:r>
              <a:rPr lang="en-US" dirty="0"/>
              <a:t>into paying customers.</a:t>
            </a:r>
          </a:p>
          <a:p>
            <a:pPr lvl="1">
              <a:lnSpc>
                <a:spcPct val="170000"/>
              </a:lnSpc>
            </a:pPr>
            <a:r>
              <a:rPr lang="en-US" b="1" dirty="0"/>
              <a:t>High Marketing Expenses:</a:t>
            </a:r>
            <a:r>
              <a:rPr lang="en-US" dirty="0"/>
              <a:t> Significant investments in </a:t>
            </a:r>
            <a:r>
              <a:rPr lang="en-US" b="1" dirty="0">
                <a:highlight>
                  <a:srgbClr val="FFFF00"/>
                </a:highlight>
              </a:rPr>
              <a:t>marketing campaigns are not yielding expected returns.</a:t>
            </a:r>
          </a:p>
          <a:p>
            <a:pPr lvl="1">
              <a:lnSpc>
                <a:spcPct val="170000"/>
              </a:lnSpc>
            </a:pPr>
            <a:r>
              <a:rPr lang="en-US" b="1" dirty="0"/>
              <a:t>Need for Customer Feedback Analysis:</a:t>
            </a:r>
            <a:r>
              <a:rPr lang="en-US" dirty="0"/>
              <a:t> </a:t>
            </a:r>
            <a:r>
              <a:rPr lang="en-US" b="1" dirty="0">
                <a:highlight>
                  <a:srgbClr val="FFFF00"/>
                </a:highlight>
              </a:rPr>
              <a:t>Understanding customer opinions about products and services is crucial</a:t>
            </a:r>
            <a:r>
              <a:rPr lang="en-US" dirty="0"/>
              <a:t> for improving engagement and conversions.</a:t>
            </a:r>
          </a:p>
        </p:txBody>
      </p:sp>
    </p:spTree>
    <p:extLst>
      <p:ext uri="{BB962C8B-B14F-4D97-AF65-F5344CB8AC3E}">
        <p14:creationId xmlns:p14="http://schemas.microsoft.com/office/powerpoint/2010/main" val="2372366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Mo Saleem,</a:t>
            </a:r>
          </a:p>
          <a:p>
            <a:pPr marL="0" indent="0">
              <a:lnSpc>
                <a:spcPct val="170000"/>
              </a:lnSpc>
              <a:buNone/>
            </a:pPr>
            <a:r>
              <a:rPr lang="en-US" dirty="0"/>
              <a:t>I hope this email finds you well. I’m the Marketing Manager at </a:t>
            </a:r>
            <a:r>
              <a:rPr lang="en-US" dirty="0" err="1"/>
              <a:t>ShopEasy</a:t>
            </a:r>
            <a:r>
              <a:rPr lang="en-US" dirty="0"/>
              <a:t>. We’ve been facing some challenges with our marketing campaigns lately, and I’m reaching out to request your expertise in data analysis to help us identify areas for improvement.</a:t>
            </a:r>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r>
              <a:rPr lang="en-US" dirty="0"/>
              <a:t>Jane Doe</a:t>
            </a:r>
            <a:br>
              <a:rPr lang="en-US" dirty="0"/>
            </a:br>
            <a:r>
              <a:rPr lang="en-US" dirty="0"/>
              <a:t>Marketing Manager</a:t>
            </a:r>
          </a:p>
        </p:txBody>
      </p:sp>
    </p:spTree>
    <p:extLst>
      <p:ext uri="{BB962C8B-B14F-4D97-AF65-F5344CB8AC3E}">
        <p14:creationId xmlns:p14="http://schemas.microsoft.com/office/powerpoint/2010/main" val="456862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5DB15-5B9A-51A4-ACDF-5C3E278CA0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F58F02-B884-B8C2-351D-A6FCA995761D}"/>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2560B76E-CD69-AC07-84F1-60998704623C}"/>
              </a:ext>
            </a:extLst>
          </p:cNvPr>
          <p:cNvSpPr>
            <a:spLocks noGrp="1"/>
          </p:cNvSpPr>
          <p:nvPr>
            <p:ph idx="1"/>
          </p:nvPr>
        </p:nvSpPr>
        <p:spPr/>
        <p:txBody>
          <a:bodyPr>
            <a:normAutofit fontScale="47500" lnSpcReduction="20000"/>
          </a:bodyPr>
          <a:lstStyle/>
          <a:p>
            <a:pPr marL="0" indent="0">
              <a:lnSpc>
                <a:spcPct val="170000"/>
              </a:lnSpc>
              <a:buNone/>
            </a:pPr>
            <a:r>
              <a:rPr lang="en-US" dirty="0"/>
              <a:t>Hi Mo Saleem,</a:t>
            </a:r>
          </a:p>
          <a:p>
            <a:pPr marL="0" indent="0">
              <a:lnSpc>
                <a:spcPct val="170000"/>
              </a:lnSpc>
              <a:buNone/>
            </a:pPr>
            <a:r>
              <a:rPr lang="en-US" dirty="0"/>
              <a:t>I hope this email finds you well. I’m the Marketing Manager at </a:t>
            </a:r>
            <a:r>
              <a:rPr lang="en-US" dirty="0" err="1"/>
              <a:t>ShopEasy</a:t>
            </a:r>
            <a:r>
              <a:rPr lang="en-US" dirty="0"/>
              <a:t>. We’ve been </a:t>
            </a:r>
            <a:r>
              <a:rPr lang="en-US" b="1" dirty="0">
                <a:highlight>
                  <a:srgbClr val="FFFF00"/>
                </a:highlight>
              </a:rPr>
              <a:t>facing some challenges with our marketing campaigns</a:t>
            </a:r>
            <a:r>
              <a:rPr lang="en-US" dirty="0"/>
              <a:t> lately, and I’m reaching out to request your expertise in data analysis to </a:t>
            </a:r>
            <a:r>
              <a:rPr lang="en-US" b="1" dirty="0">
                <a:highlight>
                  <a:srgbClr val="FFFF00"/>
                </a:highlight>
              </a:rPr>
              <a:t>help us identify areas for improvement</a:t>
            </a:r>
            <a:r>
              <a:rPr lang="en-US" dirty="0"/>
              <a:t>.</a:t>
            </a:r>
          </a:p>
          <a:p>
            <a:pPr marL="0" indent="0">
              <a:lnSpc>
                <a:spcPct val="170000"/>
              </a:lnSpc>
              <a:buNone/>
            </a:pPr>
            <a:r>
              <a:rPr lang="en-US" dirty="0"/>
              <a:t>Despite our increased investment in marketing, we’ve observed a </a:t>
            </a:r>
            <a:r>
              <a:rPr lang="en-US" b="1" dirty="0">
                <a:highlight>
                  <a:srgbClr val="FFFF00"/>
                </a:highlight>
              </a:rPr>
              <a:t>decline in customer engagement and conversion rates.</a:t>
            </a:r>
            <a:r>
              <a:rPr lang="en-US" dirty="0"/>
              <a:t> Our </a:t>
            </a:r>
            <a:r>
              <a:rPr lang="en-US" b="1" dirty="0">
                <a:highlight>
                  <a:srgbClr val="FFFF00"/>
                </a:highlight>
              </a:rPr>
              <a:t>marketing expenses have gone up</a:t>
            </a:r>
            <a:r>
              <a:rPr lang="en-US" dirty="0"/>
              <a:t>, but the </a:t>
            </a:r>
            <a:r>
              <a:rPr lang="en-US" b="1" dirty="0">
                <a:highlight>
                  <a:srgbClr val="FFFF00"/>
                </a:highlight>
              </a:rPr>
              <a:t>return on investment isn’t meeting our expectations</a:t>
            </a:r>
            <a:r>
              <a:rPr lang="en-US" dirty="0"/>
              <a:t>. We need a comprehensive analysis to understand the </a:t>
            </a:r>
            <a:r>
              <a:rPr lang="en-US" b="1" dirty="0">
                <a:highlight>
                  <a:srgbClr val="FFFF00"/>
                </a:highlight>
              </a:rPr>
              <a:t>effectiveness of our current strategies</a:t>
            </a:r>
            <a:r>
              <a:rPr lang="en-US" dirty="0"/>
              <a:t> and to find opportunities to optimize our efforts.</a:t>
            </a:r>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r>
              <a:rPr lang="en-US" dirty="0"/>
              <a:t>Jane Doe</a:t>
            </a:r>
            <a:br>
              <a:rPr lang="en-US" dirty="0"/>
            </a:br>
            <a:r>
              <a:rPr lang="en-US" dirty="0">
                <a:highlight>
                  <a:srgbClr val="FFFF00"/>
                </a:highlight>
              </a:rPr>
              <a:t>Marketing Manager</a:t>
            </a:r>
          </a:p>
        </p:txBody>
      </p:sp>
    </p:spTree>
    <p:extLst>
      <p:ext uri="{BB962C8B-B14F-4D97-AF65-F5344CB8AC3E}">
        <p14:creationId xmlns:p14="http://schemas.microsoft.com/office/powerpoint/2010/main" val="4221253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Mo Saleem,</a:t>
            </a:r>
          </a:p>
          <a:p>
            <a:pPr marL="0" indent="0">
              <a:lnSpc>
                <a:spcPct val="170000"/>
              </a:lnSpc>
              <a:buNone/>
            </a:pPr>
            <a:r>
              <a:rPr lang="en-US" dirty="0"/>
              <a:t>I’m the Customer Experience Manager at </a:t>
            </a:r>
            <a:r>
              <a:rPr lang="en-US" dirty="0" err="1"/>
              <a:t>ShopEasy</a:t>
            </a:r>
            <a:r>
              <a:rPr lang="en-US" dirty="0"/>
              <a:t>, and I’m writing to seek your help with analyzing our customer feedback. Over the past few months, we’ve noticed a drop in customer engagement and satisfaction, which is impacting our overall conversion rates.</a:t>
            </a:r>
          </a:p>
          <a:p>
            <a:pPr marL="0" indent="0">
              <a:lnSpc>
                <a:spcPct val="170000"/>
              </a:lnSpc>
              <a:buNone/>
            </a:pPr>
            <a:r>
              <a:rPr lang="en-US" dirty="0"/>
              <a:t>We’ve gathered a significant amount of customer reviews and social media comments that highlight various issues and sentiments. We believe that by thoroughly analyzing this feedback, we can gain a better understanding of our customers' needs and pain points.</a:t>
            </a:r>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dirty="0"/>
              <a:t>Thank you for your assistance.</a:t>
            </a:r>
          </a:p>
          <a:p>
            <a:pPr marL="0" indent="0">
              <a:lnSpc>
                <a:spcPct val="170000"/>
              </a:lnSpc>
              <a:buNone/>
            </a:pPr>
            <a:r>
              <a:rPr lang="en-US" dirty="0"/>
              <a:t>Best regards,</a:t>
            </a:r>
            <a:br>
              <a:rPr lang="en-US" dirty="0"/>
            </a:br>
            <a:r>
              <a:rPr lang="en-US" dirty="0"/>
              <a:t>John Smith</a:t>
            </a:r>
            <a:br>
              <a:rPr lang="en-US" dirty="0"/>
            </a:br>
            <a:r>
              <a:rPr lang="en-US" dirty="0"/>
              <a:t>Customer Experience Manager</a:t>
            </a:r>
            <a:br>
              <a:rPr lang="en-US" dirty="0"/>
            </a:br>
            <a:r>
              <a:rPr lang="en-US" dirty="0" err="1"/>
              <a:t>ShopEasy</a:t>
            </a:r>
            <a:endParaRPr lang="en-US" dirty="0"/>
          </a:p>
        </p:txBody>
      </p:sp>
    </p:spTree>
    <p:extLst>
      <p:ext uri="{BB962C8B-B14F-4D97-AF65-F5344CB8AC3E}">
        <p14:creationId xmlns:p14="http://schemas.microsoft.com/office/powerpoint/2010/main" val="2218198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721AD-F109-08B5-2BCE-455A0B9F0D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01E31C-851E-3937-FE8C-B14760D6321B}"/>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817E0C48-A636-0AF1-C32B-ADFCDEF5A38A}"/>
              </a:ext>
            </a:extLst>
          </p:cNvPr>
          <p:cNvSpPr>
            <a:spLocks noGrp="1"/>
          </p:cNvSpPr>
          <p:nvPr>
            <p:ph idx="1"/>
          </p:nvPr>
        </p:nvSpPr>
        <p:spPr/>
        <p:txBody>
          <a:bodyPr>
            <a:normAutofit fontScale="47500" lnSpcReduction="20000"/>
          </a:bodyPr>
          <a:lstStyle/>
          <a:p>
            <a:pPr marL="0" indent="0">
              <a:lnSpc>
                <a:spcPct val="170000"/>
              </a:lnSpc>
              <a:buNone/>
            </a:pPr>
            <a:r>
              <a:rPr lang="en-US" dirty="0"/>
              <a:t>Hi Mo Saleem,</a:t>
            </a:r>
          </a:p>
          <a:p>
            <a:pPr marL="0" indent="0">
              <a:lnSpc>
                <a:spcPct val="170000"/>
              </a:lnSpc>
              <a:buNone/>
            </a:pPr>
            <a:r>
              <a:rPr lang="en-US" dirty="0"/>
              <a:t>I’m the Customer Experience Manager at </a:t>
            </a:r>
            <a:r>
              <a:rPr lang="en-US" dirty="0" err="1"/>
              <a:t>ShopEasy</a:t>
            </a:r>
            <a:r>
              <a:rPr lang="en-US" dirty="0"/>
              <a:t>, and I’m writing to seek your help with </a:t>
            </a:r>
            <a:r>
              <a:rPr lang="en-US" b="1" dirty="0">
                <a:highlight>
                  <a:srgbClr val="FFFF00"/>
                </a:highlight>
              </a:rPr>
              <a:t>analyzing our customer feedback</a:t>
            </a:r>
            <a:r>
              <a:rPr lang="en-US" dirty="0"/>
              <a:t>. Over the past few months, we’ve noticed a </a:t>
            </a:r>
            <a:r>
              <a:rPr lang="en-US" b="1" dirty="0">
                <a:highlight>
                  <a:srgbClr val="FFFF00"/>
                </a:highlight>
              </a:rPr>
              <a:t>drop in customer engagement and satisfaction</a:t>
            </a:r>
            <a:r>
              <a:rPr lang="en-US" dirty="0"/>
              <a:t>, which is impacting our overall conversion rates.</a:t>
            </a:r>
          </a:p>
          <a:p>
            <a:pPr marL="0" indent="0">
              <a:lnSpc>
                <a:spcPct val="170000"/>
              </a:lnSpc>
              <a:buNone/>
            </a:pPr>
            <a:r>
              <a:rPr lang="en-US" dirty="0"/>
              <a:t>We’ve gathered a significant amount of customer reviews and social media comments that highlight </a:t>
            </a:r>
            <a:r>
              <a:rPr lang="en-US" b="1" dirty="0">
                <a:highlight>
                  <a:srgbClr val="FFFF00"/>
                </a:highlight>
              </a:rPr>
              <a:t>various issues and sentiments</a:t>
            </a:r>
            <a:r>
              <a:rPr lang="en-US" dirty="0"/>
              <a:t>. We believe that by thoroughly analyzing this feedback, we can gain a better understanding of our customers' needs and pain points.</a:t>
            </a:r>
          </a:p>
          <a:p>
            <a:pPr marL="0" indent="0">
              <a:lnSpc>
                <a:spcPct val="170000"/>
              </a:lnSpc>
              <a:buNone/>
            </a:pPr>
            <a:r>
              <a:rPr lang="en-US" dirty="0"/>
              <a:t>Your expertise in data analysis will be crucial in </a:t>
            </a:r>
            <a:r>
              <a:rPr lang="en-US" b="1" dirty="0">
                <a:highlight>
                  <a:srgbClr val="FFFF00"/>
                </a:highlight>
              </a:rPr>
              <a:t>helping us decode this feedback and provide actionable insights</a:t>
            </a:r>
            <a:r>
              <a:rPr lang="en-US" dirty="0"/>
              <a:t>. We hope this will guide us in improving our customer experience and ultimately boost our engagement and conversion rates.</a:t>
            </a:r>
          </a:p>
          <a:p>
            <a:pPr marL="0" indent="0">
              <a:lnSpc>
                <a:spcPct val="170000"/>
              </a:lnSpc>
              <a:buNone/>
            </a:pPr>
            <a:r>
              <a:rPr lang="en-US" dirty="0"/>
              <a:t>Thank you for your assistance.</a:t>
            </a:r>
          </a:p>
          <a:p>
            <a:pPr marL="0" indent="0">
              <a:lnSpc>
                <a:spcPct val="170000"/>
              </a:lnSpc>
              <a:buNone/>
            </a:pPr>
            <a:r>
              <a:rPr lang="en-US" dirty="0"/>
              <a:t>Best regards,</a:t>
            </a:r>
            <a:br>
              <a:rPr lang="en-US" dirty="0"/>
            </a:br>
            <a:r>
              <a:rPr lang="en-US" dirty="0"/>
              <a:t>John Smith</a:t>
            </a:r>
            <a:br>
              <a:rPr lang="en-US" dirty="0"/>
            </a:br>
            <a:r>
              <a:rPr lang="en-US" dirty="0">
                <a:highlight>
                  <a:srgbClr val="FFFF00"/>
                </a:highlight>
              </a:rPr>
              <a:t>Customer Experience Manager</a:t>
            </a:r>
            <a:br>
              <a:rPr lang="en-US" dirty="0"/>
            </a:br>
            <a:r>
              <a:rPr lang="en-US" dirty="0" err="1"/>
              <a:t>ShopEasy</a:t>
            </a:r>
            <a:endParaRPr lang="en-US" dirty="0"/>
          </a:p>
        </p:txBody>
      </p:sp>
    </p:spTree>
    <p:extLst>
      <p:ext uri="{BB962C8B-B14F-4D97-AF65-F5344CB8AC3E}">
        <p14:creationId xmlns:p14="http://schemas.microsoft.com/office/powerpoint/2010/main" val="2205876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rPr lang="en-US" b="1" dirty="0"/>
              <a:t>Key Performance Indicators (KPIs)</a:t>
            </a:r>
            <a:endParaRPr lang="nb-NO" b="1" dirty="0"/>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rmAutofit fontScale="92500" lnSpcReduction="10000"/>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Average Order Value (AOV): </a:t>
            </a:r>
            <a:r>
              <a:rPr lang="en-US" dirty="0"/>
              <a:t>Average amount spent by a customer per transaction.</a:t>
            </a:r>
          </a:p>
          <a:p>
            <a:pPr>
              <a:lnSpc>
                <a:spcPct val="150000"/>
              </a:lnSpc>
            </a:pPr>
            <a:r>
              <a:rPr lang="en-US" b="1" dirty="0"/>
              <a:t>Customer Feedback Score: </a:t>
            </a:r>
            <a:r>
              <a:rPr lang="en-US" dirty="0"/>
              <a:t>Average rating from customer reviews.</a:t>
            </a:r>
            <a:endParaRPr lang="nb-NO" dirty="0"/>
          </a:p>
        </p:txBody>
      </p:sp>
    </p:spTree>
    <p:extLst>
      <p:ext uri="{BB962C8B-B14F-4D97-AF65-F5344CB8AC3E}">
        <p14:creationId xmlns:p14="http://schemas.microsoft.com/office/powerpoint/2010/main" val="349862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253FB-892B-6DE8-7447-73E67F2499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A20D8B-6FC6-41E9-5611-71BC48FDEF9B}"/>
              </a:ext>
            </a:extLst>
          </p:cNvPr>
          <p:cNvSpPr>
            <a:spLocks noGrp="1"/>
          </p:cNvSpPr>
          <p:nvPr>
            <p:ph type="title"/>
          </p:nvPr>
        </p:nvSpPr>
        <p:spPr/>
        <p:txBody>
          <a:bodyPr/>
          <a:lstStyle/>
          <a:p>
            <a:r>
              <a:rPr lang="en-US" b="1" dirty="0"/>
              <a:t>Data Source and Tables</a:t>
            </a:r>
            <a:endParaRPr lang="nb-NO" b="1" dirty="0"/>
          </a:p>
        </p:txBody>
      </p:sp>
      <p:sp>
        <p:nvSpPr>
          <p:cNvPr id="3" name="Content Placeholder 2">
            <a:extLst>
              <a:ext uri="{FF2B5EF4-FFF2-40B4-BE49-F238E27FC236}">
                <a16:creationId xmlns:a16="http://schemas.microsoft.com/office/drawing/2014/main" id="{F3C02AA4-3F1B-0EBD-A8A6-9693C21C0D2F}"/>
              </a:ext>
            </a:extLst>
          </p:cNvPr>
          <p:cNvSpPr>
            <a:spLocks noGrp="1"/>
          </p:cNvSpPr>
          <p:nvPr>
            <p:ph idx="1"/>
          </p:nvPr>
        </p:nvSpPr>
        <p:spPr/>
        <p:txBody>
          <a:bodyPr>
            <a:normAutofit fontScale="92500" lnSpcReduction="20000"/>
          </a:bodyPr>
          <a:lstStyle/>
          <a:p>
            <a:pPr>
              <a:lnSpc>
                <a:spcPct val="150000"/>
              </a:lnSpc>
            </a:pPr>
            <a:r>
              <a:rPr lang="en-US" sz="2400" b="1" dirty="0"/>
              <a:t>Customer Journey Table: </a:t>
            </a:r>
            <a:r>
              <a:rPr lang="en-US" sz="2400" dirty="0"/>
              <a:t>Track customer movements through the websites analyze conversion funnel.</a:t>
            </a:r>
          </a:p>
          <a:p>
            <a:pPr>
              <a:lnSpc>
                <a:spcPct val="150000"/>
              </a:lnSpc>
            </a:pPr>
            <a:r>
              <a:rPr lang="en-US" sz="2400" b="1" dirty="0"/>
              <a:t>Engagement Data Table: </a:t>
            </a:r>
            <a:r>
              <a:rPr lang="en-US" sz="2400" dirty="0"/>
              <a:t>Measure engagement with different types of content.</a:t>
            </a:r>
          </a:p>
          <a:p>
            <a:pPr>
              <a:lnSpc>
                <a:spcPct val="150000"/>
              </a:lnSpc>
            </a:pPr>
            <a:r>
              <a:rPr lang="en-US" sz="2400" b="1" dirty="0"/>
              <a:t>Customer Review Table: </a:t>
            </a:r>
            <a:r>
              <a:rPr lang="en-US" sz="2400" dirty="0"/>
              <a:t>Analyze customer feedback to identify common themes and sentiment</a:t>
            </a:r>
          </a:p>
          <a:p>
            <a:pPr>
              <a:lnSpc>
                <a:spcPct val="150000"/>
              </a:lnSpc>
            </a:pPr>
            <a:r>
              <a:rPr lang="en-US" sz="2400" b="1" dirty="0"/>
              <a:t>Customer Table: </a:t>
            </a:r>
            <a:r>
              <a:rPr lang="en-US" sz="2400" dirty="0"/>
              <a:t>Provide additional information about customers.</a:t>
            </a:r>
          </a:p>
          <a:p>
            <a:pPr>
              <a:lnSpc>
                <a:spcPct val="150000"/>
              </a:lnSpc>
            </a:pPr>
            <a:r>
              <a:rPr lang="en-US" sz="2400" b="1" dirty="0"/>
              <a:t>Geography Table: </a:t>
            </a:r>
            <a:r>
              <a:rPr lang="en-US" sz="2400" dirty="0"/>
              <a:t>Provide additional geographic about customers.</a:t>
            </a:r>
          </a:p>
          <a:p>
            <a:pPr>
              <a:lnSpc>
                <a:spcPct val="150000"/>
              </a:lnSpc>
            </a:pPr>
            <a:r>
              <a:rPr lang="en-US" sz="2400" b="1" dirty="0"/>
              <a:t>Products Table: </a:t>
            </a:r>
            <a:r>
              <a:rPr lang="en-US" sz="2400" dirty="0"/>
              <a:t>Provide additional information </a:t>
            </a:r>
            <a:r>
              <a:rPr lang="en-US" sz="2400"/>
              <a:t>about products.</a:t>
            </a:r>
            <a:endParaRPr lang="en-US" sz="2400" b="1" dirty="0"/>
          </a:p>
          <a:p>
            <a:pPr>
              <a:lnSpc>
                <a:spcPct val="150000"/>
              </a:lnSpc>
            </a:pPr>
            <a:endParaRPr lang="en-US" sz="2400" b="1" dirty="0"/>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p:txBody>
      </p:sp>
    </p:spTree>
    <p:extLst>
      <p:ext uri="{BB962C8B-B14F-4D97-AF65-F5344CB8AC3E}">
        <p14:creationId xmlns:p14="http://schemas.microsoft.com/office/powerpoint/2010/main" val="1605044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p:txBody>
          <a:bodyPr/>
          <a:lstStyle/>
          <a:p>
            <a:r>
              <a:rPr lang="en-US" b="1" dirty="0"/>
              <a:t>Goals</a:t>
            </a:r>
            <a:endParaRPr lang="nb-NO" b="1" dirty="0"/>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p:txBody>
          <a:bodyPr>
            <a:normAutofit fontScale="62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a:p>
            <a:pPr lvl="1">
              <a:lnSpc>
                <a:spcPct val="170000"/>
              </a:lnSpc>
            </a:pPr>
            <a:endParaRPr lang="en-US" dirty="0"/>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537</TotalTime>
  <Words>1128</Words>
  <Application>Microsoft Office PowerPoint</Application>
  <PresentationFormat>Widescreen</PresentationFormat>
  <Paragraphs>82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Marketing Analytics Business Case</vt:lpstr>
      <vt:lpstr>Introduction to Business Problem</vt:lpstr>
      <vt:lpstr>Introduction to Business Problem</vt:lpstr>
      <vt:lpstr>Subject: Request for Data Analysis to Improve Marketing Strategy</vt:lpstr>
      <vt:lpstr>Subject: Request for Data Analysis to Improve Marketing Strategy</vt:lpstr>
      <vt:lpstr>Subject: Request for Data Analysis to Improve Marketing Strategy</vt:lpstr>
      <vt:lpstr>Subject: Request for Data Analysis to Improve Marketing Strategy</vt:lpstr>
      <vt:lpstr>Key Performance Indicators (KPIs)</vt:lpstr>
      <vt:lpstr>Data Source and Tables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mosaleem0213@outlook.com</cp:lastModifiedBy>
  <cp:revision>1</cp:revision>
  <dcterms:created xsi:type="dcterms:W3CDTF">2024-07-20T13:50:58Z</dcterms:created>
  <dcterms:modified xsi:type="dcterms:W3CDTF">2026-03-16T07:16:06Z</dcterms:modified>
</cp:coreProperties>
</file>