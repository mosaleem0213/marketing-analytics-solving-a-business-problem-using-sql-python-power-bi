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7" r:id="rId2"/>
    <p:sldId id="259" r:id="rId3"/>
    <p:sldId id="258" r:id="rId4"/>
    <p:sldId id="261" r:id="rId5"/>
    <p:sldId id="262" r:id="rId6"/>
    <p:sldId id="263" r:id="rId7"/>
    <p:sldId id="264" r:id="rId8"/>
    <p:sldId id="265"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32748B-4F94-43F3-BDDE-CFF9D7EEF10F}" v="3" dt="2026-04-03T05:53:32.5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varScale="1">
        <p:scale>
          <a:sx n="108" d="100"/>
          <a:sy n="108" d="100"/>
        </p:scale>
        <p:origin x="132" y="1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4/2/2026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4/2/2026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4/2/2026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en-US" dirty="0"/>
              <a:t>Data Presentation : </a:t>
            </a:r>
            <a:r>
              <a:rPr lang="nb-NO" dirty="0"/>
              <a:t>Overview</a:t>
            </a:r>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11.41%, despite a notable dip to 6.15%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19.57%,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15" name="Picture 14">
            <a:extLst>
              <a:ext uri="{FF2B5EF4-FFF2-40B4-BE49-F238E27FC236}">
                <a16:creationId xmlns:a16="http://schemas.microsoft.com/office/drawing/2014/main" id="{B2371077-9593-4334-8D3B-574CD6F79921}"/>
              </a:ext>
            </a:extLst>
          </p:cNvPr>
          <p:cNvPicPr>
            <a:picLocks noChangeAspect="1"/>
          </p:cNvPicPr>
          <p:nvPr/>
        </p:nvPicPr>
        <p:blipFill>
          <a:blip r:embed="rId2"/>
          <a:stretch>
            <a:fillRect/>
          </a:stretch>
        </p:blipFill>
        <p:spPr>
          <a:xfrm>
            <a:off x="4607511" y="1825625"/>
            <a:ext cx="7332866" cy="4351338"/>
          </a:xfrm>
          <a:prstGeom prst="rect">
            <a:avLst/>
          </a:prstGeom>
        </p:spPr>
      </p:pic>
      <p:cxnSp>
        <p:nvCxnSpPr>
          <p:cNvPr id="22" name="Straight Arrow Connector 21">
            <a:extLst>
              <a:ext uri="{FF2B5EF4-FFF2-40B4-BE49-F238E27FC236}">
                <a16:creationId xmlns:a16="http://schemas.microsoft.com/office/drawing/2014/main" id="{E173D264-325F-DEA2-A32D-45DAA9D2B4ED}"/>
              </a:ext>
            </a:extLst>
          </p:cNvPr>
          <p:cNvCxnSpPr>
            <a:cxnSpLocks/>
          </p:cNvCxnSpPr>
          <p:nvPr/>
        </p:nvCxnSpPr>
        <p:spPr>
          <a:xfrm>
            <a:off x="7253056" y="2166151"/>
            <a:ext cx="532661" cy="2574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42D05040-4F86-75D9-51B6-2C31C4801EB7}"/>
              </a:ext>
            </a:extLst>
          </p:cNvPr>
          <p:cNvCxnSpPr/>
          <p:nvPr/>
        </p:nvCxnSpPr>
        <p:spPr>
          <a:xfrm>
            <a:off x="10990555" y="3506680"/>
            <a:ext cx="648070" cy="4527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9C5652B8-9411-CDA7-2E51-DD674B8F0430}"/>
              </a:ext>
            </a:extLst>
          </p:cNvPr>
          <p:cNvCxnSpPr/>
          <p:nvPr/>
        </p:nvCxnSpPr>
        <p:spPr>
          <a:xfrm>
            <a:off x="8123068" y="4944862"/>
            <a:ext cx="124287" cy="35510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5083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6.15%,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17.31%, driven significantly by the Ski Boots with a remarkable 150% conversion. This indicates a strong start to the year, likely fueled by seasonal demand and effective marketing strategies.</a:t>
            </a:r>
          </a:p>
        </p:txBody>
      </p:sp>
      <p:pic>
        <p:nvPicPr>
          <p:cNvPr id="5" name="Picture 4">
            <a:extLst>
              <a:ext uri="{FF2B5EF4-FFF2-40B4-BE49-F238E27FC236}">
                <a16:creationId xmlns:a16="http://schemas.microsoft.com/office/drawing/2014/main" id="{845CD2C7-6AA5-99CB-B581-DDD6BA19B58A}"/>
              </a:ext>
            </a:extLst>
          </p:cNvPr>
          <p:cNvPicPr>
            <a:picLocks noChangeAspect="1"/>
          </p:cNvPicPr>
          <p:nvPr/>
        </p:nvPicPr>
        <p:blipFill>
          <a:blip r:embed="rId2"/>
          <a:stretch>
            <a:fillRect/>
          </a:stretch>
        </p:blipFill>
        <p:spPr>
          <a:xfrm>
            <a:off x="6096000" y="1825625"/>
            <a:ext cx="5977630" cy="4351338"/>
          </a:xfrm>
          <a:prstGeom prst="rect">
            <a:avLst/>
          </a:prstGeom>
        </p:spPr>
      </p:pic>
      <p:sp>
        <p:nvSpPr>
          <p:cNvPr id="9" name="Rectangle 8">
            <a:extLst>
              <a:ext uri="{FF2B5EF4-FFF2-40B4-BE49-F238E27FC236}">
                <a16:creationId xmlns:a16="http://schemas.microsoft.com/office/drawing/2014/main" id="{689B1C08-6B7C-A094-FDDD-317AFCAB38B3}"/>
              </a:ext>
            </a:extLst>
          </p:cNvPr>
          <p:cNvSpPr/>
          <p:nvPr/>
        </p:nvSpPr>
        <p:spPr>
          <a:xfrm>
            <a:off x="6862440" y="1825625"/>
            <a:ext cx="479394" cy="443313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FF0000"/>
              </a:solidFill>
            </a:endParaRPr>
          </a:p>
        </p:txBody>
      </p:sp>
    </p:spTree>
    <p:extLst>
      <p:ext uri="{BB962C8B-B14F-4D97-AF65-F5344CB8AC3E}">
        <p14:creationId xmlns:p14="http://schemas.microsoft.com/office/powerpoint/2010/main" val="1244894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peaked in Jan and Fab but declined from Jul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Video content drove the most views, especially in Nov and Dec, while social media and Blog content maintained steady but slightly lower engagement.</a:t>
            </a:r>
            <a:endParaRPr lang="nb-NO" dirty="0"/>
          </a:p>
        </p:txBody>
      </p:sp>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5" name="Picture 4">
            <a:extLst>
              <a:ext uri="{FF2B5EF4-FFF2-40B4-BE49-F238E27FC236}">
                <a16:creationId xmlns:a16="http://schemas.microsoft.com/office/drawing/2014/main" id="{62C39726-05DB-224B-8498-6642A0F9F389}"/>
              </a:ext>
            </a:extLst>
          </p:cNvPr>
          <p:cNvPicPr>
            <a:picLocks noChangeAspect="1"/>
          </p:cNvPicPr>
          <p:nvPr/>
        </p:nvPicPr>
        <p:blipFill>
          <a:blip r:embed="rId2"/>
          <a:stretch>
            <a:fillRect/>
          </a:stretch>
        </p:blipFill>
        <p:spPr>
          <a:xfrm>
            <a:off x="6740384" y="1825625"/>
            <a:ext cx="4374459" cy="2087555"/>
          </a:xfrm>
          <a:prstGeom prst="rect">
            <a:avLst/>
          </a:prstGeom>
        </p:spPr>
      </p:pic>
      <p:pic>
        <p:nvPicPr>
          <p:cNvPr id="10" name="Picture 9">
            <a:extLst>
              <a:ext uri="{FF2B5EF4-FFF2-40B4-BE49-F238E27FC236}">
                <a16:creationId xmlns:a16="http://schemas.microsoft.com/office/drawing/2014/main" id="{9636B572-CE4A-DD6A-7842-04A1F24A2D59}"/>
              </a:ext>
            </a:extLst>
          </p:cNvPr>
          <p:cNvPicPr>
            <a:picLocks noChangeAspect="1"/>
          </p:cNvPicPr>
          <p:nvPr/>
        </p:nvPicPr>
        <p:blipFill>
          <a:blip r:embed="rId3"/>
          <a:stretch>
            <a:fillRect/>
          </a:stretch>
        </p:blipFill>
        <p:spPr>
          <a:xfrm>
            <a:off x="6653840" y="4048117"/>
            <a:ext cx="4461003" cy="2128846"/>
          </a:xfrm>
          <a:prstGeom prst="rect">
            <a:avLst/>
          </a:prstGeom>
        </p:spPr>
      </p:pic>
    </p:spTree>
    <p:extLst>
      <p:ext uri="{BB962C8B-B14F-4D97-AF65-F5344CB8AC3E}">
        <p14:creationId xmlns:p14="http://schemas.microsoft.com/office/powerpoint/2010/main" val="333086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431 reviews at 4 stars and 409 reviews at 5 stars, indicating overall positive feedback. Lower ratings (1-2 stars) account for a smaller proportion, with 80 reviews at 1 star and 153 reviews at 2 stars.</a:t>
            </a:r>
          </a:p>
          <a:p>
            <a:pPr>
              <a:lnSpc>
                <a:spcPct val="170000"/>
              </a:lnSpc>
            </a:pPr>
            <a:r>
              <a:rPr lang="en-US" b="1" dirty="0"/>
              <a:t>Sentiment Analysis:</a:t>
            </a:r>
          </a:p>
          <a:p>
            <a:pPr lvl="1">
              <a:lnSpc>
                <a:spcPct val="170000"/>
              </a:lnSpc>
            </a:pPr>
            <a:r>
              <a:rPr lang="en-US" dirty="0"/>
              <a:t>Positive sentiment dominates with 840 reviews, reflecting a generally satisfied customer base. Negative sentiment is present in 226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5" name="Picture 4">
            <a:extLst>
              <a:ext uri="{FF2B5EF4-FFF2-40B4-BE49-F238E27FC236}">
                <a16:creationId xmlns:a16="http://schemas.microsoft.com/office/drawing/2014/main" id="{D1D94843-5D70-867E-55CA-2C211DE2FDAD}"/>
              </a:ext>
            </a:extLst>
          </p:cNvPr>
          <p:cNvPicPr>
            <a:picLocks noChangeAspect="1"/>
          </p:cNvPicPr>
          <p:nvPr/>
        </p:nvPicPr>
        <p:blipFill>
          <a:blip r:embed="rId2"/>
          <a:stretch>
            <a:fillRect/>
          </a:stretch>
        </p:blipFill>
        <p:spPr>
          <a:xfrm>
            <a:off x="7254729" y="1825625"/>
            <a:ext cx="3238952" cy="2229161"/>
          </a:xfrm>
          <a:prstGeom prst="rect">
            <a:avLst/>
          </a:prstGeom>
        </p:spPr>
      </p:pic>
      <p:pic>
        <p:nvPicPr>
          <p:cNvPr id="9" name="Picture 8">
            <a:extLst>
              <a:ext uri="{FF2B5EF4-FFF2-40B4-BE49-F238E27FC236}">
                <a16:creationId xmlns:a16="http://schemas.microsoft.com/office/drawing/2014/main" id="{823E7869-533A-14CC-3600-4058A11BC757}"/>
              </a:ext>
            </a:extLst>
          </p:cNvPr>
          <p:cNvPicPr>
            <a:picLocks noChangeAspect="1"/>
          </p:cNvPicPr>
          <p:nvPr/>
        </p:nvPicPr>
        <p:blipFill>
          <a:blip r:embed="rId3"/>
          <a:stretch>
            <a:fillRect/>
          </a:stretch>
        </p:blipFill>
        <p:spPr>
          <a:xfrm>
            <a:off x="7254729" y="4189723"/>
            <a:ext cx="3238952" cy="2238687"/>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5F148-6F07-0981-16EB-5E410FFEB9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CBF274-B604-41CE-E789-02EE2CDEBBDE}"/>
              </a:ext>
            </a:extLst>
          </p:cNvPr>
          <p:cNvSpPr>
            <a:spLocks noGrp="1"/>
          </p:cNvSpPr>
          <p:nvPr>
            <p:ph type="title"/>
          </p:nvPr>
        </p:nvSpPr>
        <p:spPr/>
        <p:txBody>
          <a:bodyPr/>
          <a:lstStyle/>
          <a:p>
            <a:r>
              <a:rPr lang="nb-NO" dirty="0"/>
              <a:t>Final Screenshots of Dashboard</a:t>
            </a:r>
          </a:p>
        </p:txBody>
      </p:sp>
      <p:pic>
        <p:nvPicPr>
          <p:cNvPr id="6" name="Picture 5">
            <a:extLst>
              <a:ext uri="{FF2B5EF4-FFF2-40B4-BE49-F238E27FC236}">
                <a16:creationId xmlns:a16="http://schemas.microsoft.com/office/drawing/2014/main" id="{AA7B831A-2EC2-B90A-1FDC-93B5A57373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278" y="1347394"/>
            <a:ext cx="9800947" cy="5506612"/>
          </a:xfrm>
          <a:prstGeom prst="rect">
            <a:avLst/>
          </a:prstGeom>
        </p:spPr>
      </p:pic>
    </p:spTree>
    <p:extLst>
      <p:ext uri="{BB962C8B-B14F-4D97-AF65-F5344CB8AC3E}">
        <p14:creationId xmlns:p14="http://schemas.microsoft.com/office/powerpoint/2010/main" val="3219829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1A8D5-CF47-BB62-423A-40A0E56C452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E095437-0C03-4337-2BEE-AE99F5D928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902" y="186431"/>
            <a:ext cx="11681064" cy="6535833"/>
          </a:xfrm>
          <a:prstGeom prst="rect">
            <a:avLst/>
          </a:prstGeom>
        </p:spPr>
      </p:pic>
    </p:spTree>
    <p:extLst>
      <p:ext uri="{BB962C8B-B14F-4D97-AF65-F5344CB8AC3E}">
        <p14:creationId xmlns:p14="http://schemas.microsoft.com/office/powerpoint/2010/main" val="4020163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9F2AA-DC2F-AB59-F93E-D00C87C222D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AD1F163-CDAC-CBCE-09BF-62AF5582F9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389" y="135830"/>
            <a:ext cx="11951119" cy="6728286"/>
          </a:xfrm>
          <a:prstGeom prst="rect">
            <a:avLst/>
          </a:prstGeom>
        </p:spPr>
      </p:pic>
    </p:spTree>
    <p:extLst>
      <p:ext uri="{BB962C8B-B14F-4D97-AF65-F5344CB8AC3E}">
        <p14:creationId xmlns:p14="http://schemas.microsoft.com/office/powerpoint/2010/main" val="2523470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4A7C9-7EC2-C519-DD79-41DC587DDE3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0DB5418-6124-31E7-F151-E4A613AD12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211" y="186430"/>
            <a:ext cx="11843766" cy="6548979"/>
          </a:xfrm>
          <a:prstGeom prst="rect">
            <a:avLst/>
          </a:prstGeom>
        </p:spPr>
      </p:pic>
    </p:spTree>
    <p:extLst>
      <p:ext uri="{BB962C8B-B14F-4D97-AF65-F5344CB8AC3E}">
        <p14:creationId xmlns:p14="http://schemas.microsoft.com/office/powerpoint/2010/main" val="25448692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207</TotalTime>
  <Words>504</Words>
  <Application>Microsoft Office PowerPoint</Application>
  <PresentationFormat>Widescreen</PresentationFormat>
  <Paragraphs>30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Data Presentation : Overview</vt:lpstr>
      <vt:lpstr>Decreased Conversion Rates</vt:lpstr>
      <vt:lpstr>Reduced Customer Engagement</vt:lpstr>
      <vt:lpstr>Customer Feedback Analysis</vt:lpstr>
      <vt:lpstr>Final Screenshots of Dashboard</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mosaleem0213@outlook.com</cp:lastModifiedBy>
  <cp:revision>2</cp:revision>
  <dcterms:created xsi:type="dcterms:W3CDTF">2024-09-03T15:16:05Z</dcterms:created>
  <dcterms:modified xsi:type="dcterms:W3CDTF">2026-04-03T06:05:26Z</dcterms:modified>
</cp:coreProperties>
</file>